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Ruptures</c:v>
                </c:pt>
              </c:strCache>
            </c:strRef>
          </c:tx>
          <c:spPr>
            <a:solidFill>
              <a:srgbClr val="1740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9C-5445-81E4-ED999092C55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B9C-5445-81E4-ED999092C55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B9C-5445-81E4-ED999092C55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B9C-5445-81E4-ED999092C55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B9C-5445-81E4-ED999092C55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B9C-5445-81E4-ED999092C55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B9C-5445-81E4-ED999092C551}"/>
              </c:ext>
            </c:extLst>
          </c:dPt>
          <c:dPt>
            <c:idx val="7"/>
            <c:invertIfNegative val="0"/>
            <c:bubble3D val="0"/>
            <c:spPr>
              <a:solidFill>
                <a:srgbClr val="CE11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B9C-5445-81E4-ED999092C5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1990–94</c:v>
                </c:pt>
                <c:pt idx="1">
                  <c:v>1995–99</c:v>
                </c:pt>
                <c:pt idx="2">
                  <c:v>2000–04</c:v>
                </c:pt>
                <c:pt idx="3">
                  <c:v>2005–09</c:v>
                </c:pt>
                <c:pt idx="4">
                  <c:v>2010–14</c:v>
                </c:pt>
                <c:pt idx="5">
                  <c:v>2015–19</c:v>
                </c:pt>
                <c:pt idx="6">
                  <c:v>2020–23</c:v>
                </c:pt>
                <c:pt idx="7">
                  <c:v>2024–25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9C-5445-81E4-ED999092C5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0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91440" cy="514350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6459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INSTINCT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743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Achilles Injury Risk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8229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&amp; Predicting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Achilles Injury Risk in NBA Players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8404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Causal Inference and Machine Learning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2468880"/>
            <a:ext cx="4846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Keziah Vickraman  ·  Eugene Tan  ·  Bibi Haneeza Said Akbar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 ·  August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3383280"/>
            <a:ext cx="2194560" cy="50292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Causal Inference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3383280"/>
            <a:ext cx="2377440" cy="50292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Predictive ML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0" y="4114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"Imagine if Tatum, Haliburton, and KD could have avoided those injuries.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tool turns what-ifs into actionable foresight."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Achilles ruptures are rare — but the 2024–25 season was anything but normal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Achilles ruptures in the 2024–25 season  vs. a 30-year average of  </a:t>
            </a: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1.96 per year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4864" cy="265176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High-Profile Cases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514600"/>
            <a:ext cx="2542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Jayson Tatum, Damian Lillard, Tyrese Haliburton, Dejounte Murray — stars lost to the same injury in a single season.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21488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2148840"/>
            <a:ext cx="54864" cy="265176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2514600"/>
            <a:ext cx="2542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Commissioner Adam Silver convened an expert panel and acknowledged investigating workload and scheduling as contributing factors.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21488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2148840"/>
            <a:ext cx="54864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514600"/>
            <a:ext cx="2542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growing frequency, no robust public predictive tool exists to flag individual players at risk before the injury occurs.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 Sports Transactions · ESPN · AP News (Reynolds, 2025)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Injury Spike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NBA Achilles ruptures 1990–2025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515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5156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051560"/>
            <a:ext cx="2834640" cy="54864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161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016752" y="1604772"/>
            <a:ext cx="26883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NBA ruptures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1990–2023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19456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2194560"/>
            <a:ext cx="283464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1.36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016752" y="2747772"/>
            <a:ext cx="26883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ruptures per season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(30-year baseline)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33756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3337560"/>
            <a:ext cx="2834640" cy="54864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3447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016752" y="3890772"/>
            <a:ext cx="26883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ruptures in 2024–25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(5.9× the average)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8006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2024–25 season shaded in 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Approach: Two Complementary Angles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inference answers WHY — predictive modelling answers WHO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Causal Inference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β̂  — The WHY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3749040" cy="13716"/>
          </a:xfrm>
          <a:prstGeom prst="rect">
            <a:avLst/>
          </a:prstGeom>
          <a:solidFill>
            <a:srgbClr val="3A5FA0"/>
          </a:solidFill>
          <a:ln w="12700">
            <a:solidFill>
              <a:srgbClr val="3A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Difference-in-Differences (DiD)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load (top 25% rolling minutes)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Back-to-back scheduling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Season-level injury rate
</a:t>
            </a:r>
            <a:r>
              <a:rPr lang="en-US" sz="1050" b="1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trends approximation; synthetic control planned for future work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Modelling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 — The WHO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194560"/>
            <a:ext cx="3749040" cy="13716"/>
          </a:xfrm>
          <a:prstGeom prst="rect">
            <a:avLst/>
          </a:prstGeom>
          <a:solidFill>
            <a:srgbClr val="B03050"/>
          </a:solidFill>
          <a:ln w="12700">
            <a:solidFill>
              <a:srgbClr val="B0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regression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pct_games_missed (continuous)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— train 2018–21, test 2022–25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avg_rolling_minutes_3 (lagged)
</a:t>
            </a:r>
            <a:r>
              <a:rPr lang="en-US" sz="105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r>
              <a:rPr lang="en-US" sz="1050" dirty="0">
                <a:solidFill>
                  <a:srgbClr val="FF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Player-level risk score for coaches &amp; GMs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sources · NBA-only · 2018–2025 regular season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463040" cy="201168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hoopR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scores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2002–2025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players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1965960"/>
            <a:ext cx="17373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01952" y="1901952"/>
            <a:ext cx="109728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188720"/>
            <a:ext cx="1463040" cy="201168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Sports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logs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1951–2023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dataset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02152" y="1965960"/>
            <a:ext cx="17373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93592" y="1901952"/>
            <a:ext cx="109728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1188720"/>
            <a:ext cx="1463040" cy="201168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2024–25 cases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93792" y="1965960"/>
            <a:ext cx="17373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85232" y="1901952"/>
            <a:ext cx="109728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94960" y="1188720"/>
            <a:ext cx="146304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Lag, roll,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agg,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85432" y="1965960"/>
            <a:ext cx="17373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76872" y="1901952"/>
            <a:ext cx="109728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86600" y="1188720"/>
            <a:ext cx="1463040" cy="2011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8660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2018–25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pct_games_missed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built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to 2018+ (hoopR unreliable pre-2018)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season only (season_type == 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NCAA — season-level aggregation incompatible with new target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train/test split — no random leakage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— Causal Inference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high workload and back-to-back games increase injury risk?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Injury_it  =  β₀  +  β₁ · Load/B2B_it  +  β₂ · HomeGame_it  +  β₃ · PostTreatment_t  +  ε_it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54864" cy="141732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0574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High vs Low Load (DiD)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331720"/>
            <a:ext cx="3822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injury rates between high-load player-seasons (top 25% rolling minutes) and low-load, before and after the treatment period. Found a positive directional effect — high-load player-seasons showed elevated injury risk in the post period.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54864" cy="141732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20574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Load × Post × B2B (Interaction)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0016" y="2331720"/>
            <a:ext cx="400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back-to-back scheduling as an interaction term. B2B observations were sparse, making estimates noisy — but the directional signal persisted: high load combined with B2B games showed the largest estimated injury risk.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D5E8F0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64008" cy="123444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587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trends assumption is imperfect given the rarity of the outcome.  Sparse B2B injury observations increase estimation variance.  </a:t>
            </a: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synthetic control methods would construct a more robust counterfactual trajectory.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Pivot: From Binary to Continuous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Rethinking the target variable based on supervisor feedback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840480" cy="3749040"/>
          </a:xfrm>
          <a:prstGeom prst="rect">
            <a:avLst/>
          </a:prstGeom>
          <a:solidFill>
            <a:srgbClr val="FDECEA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BEFORE — Binary Classifier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injured_achilles (0 / 1)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 positive class rate — rare event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attempted: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SMOTE, ROSE, ADASYN — amplified noise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issue: </a:t>
            </a:r>
            <a:r>
              <a:rPr lang="en-US" sz="105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have prohibitive economic cost in the NBA — benching a star player unnecessarily destroys trust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834640"/>
            <a:ext cx="6400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2697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3840480" cy="3749040"/>
          </a:xfrm>
          <a:prstGeom prst="rect">
            <a:avLst/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AFTER — Continuous Regression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pct_games_missed = games_missed / games_on_roster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class imbalance: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on [0, 1] continuous value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Actionable: </a:t>
            </a: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GMs set their own risk threshold — 25% missed ≠ 5% missed
</a:t>
            </a: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scope: </a:t>
            </a:r>
            <a:r>
              <a:rPr lang="en-US" sz="105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all load-related absences, not just Achilles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 bias — the invisible trap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4864" cy="68580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players play more — so total_minutes, back_to_back_games and avg_days_rest are paradoxically HIGHER for uninjured players. The model learned: more minutes → fewer missed games. Exactly backwards.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1737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total_minutes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❌ Removed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Survivorship-biased — high for healthy players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back_to_back_games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❌ Removed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Survivorship-biased — same logic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avg_days_rest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❌ Removed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Injured players 'rest' more because they're inactive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avg_rolling_minutes_3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✅ Retained (lagged)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</a:rPr>
                        <a:t>Pre-injury load proxy — only uses prior-period data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D5E8F0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3886200"/>
            <a:ext cx="54864" cy="100584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avg_rolling_minutes_3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2062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minutes played in the 3 games prior to any given observation, lagged by one period. This captures pre-injury workload without contaminating the signal with same-period playing time that is mechanically high for healthy players.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hurdle to direct XGBoost — a lesson in simplicity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84048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ABANDONED — Hurdle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— does player miss any games? (binary)
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B: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— what % do they miss?
</a:t>
            </a:r>
            <a:r>
              <a:rPr lang="en-US" sz="950" b="1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dropped: </a:t>
            </a: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87–94% of player-seasons had pct_games_missed &gt; 0. Stage A learned the majority class with high confidence and contributed nothing.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51960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83480" y="1097280"/>
            <a:ext cx="3794760" cy="1920240"/>
          </a:xfrm>
          <a:prstGeom prst="rect">
            <a:avLst/>
          </a:prstGeom>
          <a:solidFill>
            <a:srgbClr val="D5E8F0"/>
          </a:solidFill>
          <a:ln w="12700">
            <a:solidFill>
              <a:srgbClr val="1740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1097280"/>
            <a:ext cx="3794760" cy="384048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0972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FINAL — Direct XGBoost Regression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536192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pct_games_missed (continuous)
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2018–2021  |  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2022–2025
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Tuning: 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grid_space_filling on tree_depth, learn_rate, loss_reduction, sample_size, mtry
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</a:t>
            </a:r>
            <a:r>
              <a:rPr lang="en-US" sz="95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tidymodels + xgboost in 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606040" cy="54864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2423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0.747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8912" y="4025646"/>
            <a:ext cx="245973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explained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held-out test 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2461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3246120"/>
            <a:ext cx="2606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355848"/>
            <a:ext cx="2423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RMSE = 0.133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19272" y="4025646"/>
            <a:ext cx="245973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squared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(games missed scale)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3246120"/>
            <a:ext cx="2651760" cy="54864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355848"/>
            <a:ext cx="2468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MAE = 0.100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99632" y="4025646"/>
            <a:ext cx="250545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(games missed scale)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— Who's Next?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at-risk players flagged for the 2024 cohort (model trained on 2018–2021)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207008"/>
            <a:ext cx="329184" cy="420624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207008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Zach LaVine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4447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rolling minutes, elevated injury history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1207008"/>
            <a:ext cx="1005840" cy="256032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726680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~38%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54864" cy="658368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1956816"/>
            <a:ext cx="329184" cy="420624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911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LaMelo Ball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194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ankle + load concerns; high usage seasons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956816"/>
            <a:ext cx="1005840" cy="256032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1956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26680" y="1938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~34%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54864" cy="658368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" y="2706624"/>
            <a:ext cx="329184" cy="420624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" y="2706624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2660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Joel Embiid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2944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load management, knee + foot history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2706624"/>
            <a:ext cx="1005840" cy="256032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26680" y="26883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E11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~31%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34670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" y="3456432"/>
            <a:ext cx="32918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" y="3456432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3410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Gordon Hayward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69417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injury history; flagged across multiple seasons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3456432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8368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26680" y="34381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~27%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3776" y="4206240"/>
            <a:ext cx="32918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3776" y="420624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440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OG Anunoby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44439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intensity play; hamstring concern flagged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83680" y="420624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836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726680" y="418795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~24%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generated without knowledge of 2024–25 outcomes — temporal holdout. Alignment with observed injuries provides face validity.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Shiny Dashboard — Bench the Instinct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 for coaches, GMs, and medical staff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" cy="150876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The Spike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146304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visualisation of historical Achilles rupture frequency (1990–2025), highlighting the 2024–25 anomaly against the 30-year baseline.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54864" cy="150876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37176" y="1188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Who's Next?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176" y="146304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Player-level risk scores from the XGBoost model. Filter by team, position, or load tier. Adjust the risk threshold to match your roster's risk appetite.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54864" cy="1508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" y="28803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Bench the Instinct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" y="315468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simulator — adjust a player's rolling minutes load and see how their predicted pct_games_missed changes in real time.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54864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37176" y="28803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Model Info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7176" y="315468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card: training window, feature list, evaluation metrics (R², RMSE, MAE), and documented limitations for transparent deployment.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via shinyapps.io · Source code on GitHub · Companion Quarto website: Bench the Instinct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know, what we can't see, and where we go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Scope of target variable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1097280" cy="256032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15087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pct_games_missed captures ALL absences including rest and suspensions — not only injuries. Documented explicitly; deliberate tradeoff of specificity for tractability.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1480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 No biomechanical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188720"/>
            <a:ext cx="109728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18888" y="15087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Tendon stiffness, landing mechanics, and fatigue-induced movement compensations are strong predictors but not in public box score data. NBA has this internally via second-spectrum tracking.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4114800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🏀  No positional adjustment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10972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" y="32918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centre and a guard face different Achilles risk at the same minute load. Adding athlete_position_abbreviation as a categorical feature is planned as an immediate next step.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14800" cy="36576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DiD parallel trends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2971800"/>
            <a:ext cx="1097280" cy="256032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8952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18888" y="32918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DiD estimate is a first-pass approximation. Synthetic control methods would construct a more robust counterfactual, especially given the rarity of Achilles ruptures.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77724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Learnings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taught us about data science in the wild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14996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 design matters most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from binary to continuous resolved class imbalance structurally — not through sampling.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55848" y="14996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 bias is invisible until you look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that seem like good load proxies can produce paradoxical effects because healthy players accumulate more of them.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36208" y="14996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splits simulate real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90195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splits optimistically overfit temporal patterns. A temporal split honestly tests whether the model generalises to future seasons.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" y="33741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Hurdle models aren't always warranted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7764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zero class is rare (~6–13%), Stage A adds complexity without signal. Interrogate your data before defaulting to convention.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297180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55848" y="33741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bugs hide in plain sight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7764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hoopR's season_type == 2 (not a string) silently returned 0 rows. Always cross-check row counts when filtering.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2971800"/>
            <a:ext cx="2743200" cy="36576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6208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36208" y="33741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4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framing sharpens the question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7764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about the cost of false positives in NBA context — not just classification metrics — led to the most important design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7408B"/>
          </a:solidFill>
          <a:ln w="12700">
            <a:solidFill>
              <a:srgbClr val="174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91440" cy="5143500"/>
          </a:xfrm>
          <a:prstGeom prst="rect">
            <a:avLst/>
          </a:prstGeom>
          <a:solidFill>
            <a:srgbClr val="CE1141"/>
          </a:solidFill>
          <a:ln w="12700">
            <a:solidFill>
              <a:srgbClr val="CE1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2578608"/>
            <a:ext cx="2743200" cy="18288"/>
          </a:xfrm>
          <a:prstGeom prst="rect">
            <a:avLst/>
          </a:prstGeom>
          <a:solidFill>
            <a:srgbClr val="3A5FA0"/>
          </a:solidFill>
          <a:ln w="12700">
            <a:solidFill>
              <a:srgbClr val="3A5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Keziah Vickraman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Eugene Tan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Bibi Haneeza Said Akbar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· August 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0" y="457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at a Glance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0480" y="850392"/>
            <a:ext cx="50292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40480" y="1005840"/>
            <a:ext cx="5029200" cy="621792"/>
          </a:xfrm>
          <a:prstGeom prst="rect">
            <a:avLst/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3192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0.747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on 2022–25 holdout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0" y="1719072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31920" y="1810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ruptures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0" y="1856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2024–25 vs. 1.96/yr average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0" y="2432304"/>
            <a:ext cx="5029200" cy="621792"/>
          </a:xfrm>
          <a:prstGeom prst="rect">
            <a:avLst/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31920" y="25237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2018–2025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69280" y="2569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regular season data window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840480" y="3145536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931920" y="3236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feature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0" y="32826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avg_rolling_minutes_3 (lagged load)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840480" y="3858768"/>
            <a:ext cx="5029200" cy="621792"/>
          </a:xfrm>
          <a:prstGeom prst="rect">
            <a:avLst/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931920" y="3950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parts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669280" y="3995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(DiD) + Predictive (XGBoost)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1784</Words>
  <Application>Microsoft Macintosh PowerPoint</Application>
  <PresentationFormat>On-screen Show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 the Instinct — NBA Achilles Injury Risk</dc:title>
  <dc:subject>PptxGenJS Presentation</dc:subject>
  <dc:creator>Keziah Vickraman, Eugene Tan, Bibi Haneeza Said Akbar</dc:creator>
  <cp:lastModifiedBy>Keziah Vickraman</cp:lastModifiedBy>
  <cp:revision>2</cp:revision>
  <dcterms:created xsi:type="dcterms:W3CDTF">2026-04-05T17:06:01Z</dcterms:created>
  <dcterms:modified xsi:type="dcterms:W3CDTF">2026-04-08T16:09:45Z</dcterms:modified>
</cp:coreProperties>
</file>